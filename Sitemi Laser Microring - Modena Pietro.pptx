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815ab7486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815ab7486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815ab7486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815ab7486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815ab748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815ab748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15ab748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815ab748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850a135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850a135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50a135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850a135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850a1358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850a1358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815ab7486_2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815ab7486_2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42715" l="0" r="1564" t="0"/>
          <a:stretch/>
        </p:blipFill>
        <p:spPr>
          <a:xfrm>
            <a:off x="0" y="1114425"/>
            <a:ext cx="9143999" cy="40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" y="50006"/>
            <a:ext cx="3414473" cy="101148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28650" y="183079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95015" y="4061996"/>
            <a:ext cx="2646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295015" y="4416191"/>
            <a:ext cx="2646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6229349" y="4061996"/>
            <a:ext cx="2646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body"/>
          </p:nvPr>
        </p:nvSpPr>
        <p:spPr>
          <a:xfrm>
            <a:off x="6229349" y="4416191"/>
            <a:ext cx="2646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3188984" y="4714250"/>
            <a:ext cx="276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School of Industrial and Information Engineering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Master of Science – Energy Engineering</a:t>
            </a:r>
            <a:endParaRPr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2733" l="0" r="891" t="0"/>
          <a:stretch/>
        </p:blipFill>
        <p:spPr>
          <a:xfrm>
            <a:off x="-1" y="4669664"/>
            <a:ext cx="9144003" cy="473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782" t="61196"/>
          <a:stretch/>
        </p:blipFill>
        <p:spPr>
          <a:xfrm>
            <a:off x="0" y="0"/>
            <a:ext cx="9144003" cy="767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49" y="4700602"/>
            <a:ext cx="2312790" cy="41379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260491" y="4769660"/>
            <a:ext cx="724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r>
              <a:rPr lang="it"/>
              <a:t>/XX</a:t>
            </a:r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79016" y="67963"/>
            <a:ext cx="52284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  <a:defRPr b="1" i="1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66525" y="3112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lt1"/>
                </a:solidFill>
              </a:rPr>
              <a:t>Sistemi Laser Microring integrati su Silicio</a:t>
            </a:r>
            <a:endParaRPr b="1" sz="3267">
              <a:solidFill>
                <a:schemeClr val="lt1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7918944" y="4690375"/>
            <a:ext cx="1161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lt1"/>
                </a:solidFill>
              </a:rPr>
              <a:t>Pietro Modena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Funzionamento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8"/>
          <p:cNvSpPr txBox="1"/>
          <p:nvPr/>
        </p:nvSpPr>
        <p:spPr>
          <a:xfrm>
            <a:off x="381000" y="1332077"/>
            <a:ext cx="36483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05483"/>
                </a:solidFill>
                <a:latin typeface="Arial"/>
                <a:ea typeface="Arial"/>
                <a:cs typeface="Arial"/>
                <a:sym typeface="Arial"/>
              </a:rPr>
              <a:t>Come funziona il microring</a:t>
            </a:r>
            <a:endParaRPr b="1" sz="1600">
              <a:solidFill>
                <a:srgbClr val="00548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La luce viene fatta circolare nel microring e sopravvive solo quando :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		</a:t>
            </a:r>
            <a:r>
              <a:rPr lang="it">
                <a:solidFill>
                  <a:srgbClr val="334155"/>
                </a:solidFill>
              </a:rPr>
              <a:t>L * n</a:t>
            </a:r>
            <a:r>
              <a:rPr lang="it" sz="1100">
                <a:solidFill>
                  <a:srgbClr val="334155"/>
                </a:solidFill>
              </a:rPr>
              <a:t>eff</a:t>
            </a:r>
            <a:r>
              <a:rPr lang="it">
                <a:solidFill>
                  <a:srgbClr val="334155"/>
                </a:solidFill>
              </a:rPr>
              <a:t> = m * λ</a:t>
            </a:r>
            <a:endParaRPr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Successivamente per effetto tunnel passa nel bus e viene inviata dove necessario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4">
            <a:alphaModFix/>
          </a:blip>
          <a:srcRect b="0" l="0" r="0" t="6699"/>
          <a:stretch/>
        </p:blipFill>
        <p:spPr>
          <a:xfrm>
            <a:off x="4400700" y="1555600"/>
            <a:ext cx="4362300" cy="23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Chirp termico e come risolvere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00" y="1368825"/>
            <a:ext cx="8868000" cy="27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Effetto vernier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381000" y="1332077"/>
            <a:ext cx="36483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05483"/>
                </a:solidFill>
                <a:latin typeface="Arial"/>
                <a:ea typeface="Arial"/>
                <a:cs typeface="Arial"/>
                <a:sym typeface="Arial"/>
              </a:rPr>
              <a:t>Doppio microring	</a:t>
            </a:r>
            <a:endParaRPr b="1" sz="1600">
              <a:solidFill>
                <a:srgbClr val="00548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Abbiamo due microring che hanno lunghezze leggermente diverse e quindi hanno </a:t>
            </a:r>
            <a:endParaRPr sz="1200">
              <a:solidFill>
                <a:srgbClr val="334155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FSR</a:t>
            </a:r>
            <a:r>
              <a:rPr lang="it" sz="800">
                <a:solidFill>
                  <a:srgbClr val="334155"/>
                </a:solidFill>
              </a:rPr>
              <a:t>1</a:t>
            </a:r>
            <a:r>
              <a:rPr lang="it" sz="1200">
                <a:solidFill>
                  <a:srgbClr val="334155"/>
                </a:solidFill>
              </a:rPr>
              <a:t> != FSR</a:t>
            </a:r>
            <a:r>
              <a:rPr lang="it" sz="800">
                <a:solidFill>
                  <a:srgbClr val="334155"/>
                </a:solidFill>
              </a:rPr>
              <a:t>2</a:t>
            </a:r>
            <a:endParaRPr sz="800">
              <a:solidFill>
                <a:srgbClr val="334155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4155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Ora abbiamo quindi uno “specchio” unico con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molti vantaggi :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&gt; Con poco calore abbiamo un sacco di banda 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&gt; Laser con larghezza di riga strettissima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&gt; Totalmente integrato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 rotWithShape="1">
          <a:blip r:embed="rId4">
            <a:alphaModFix/>
          </a:blip>
          <a:srcRect b="0" l="4242" r="0" t="0"/>
          <a:stretch/>
        </p:blipFill>
        <p:spPr>
          <a:xfrm>
            <a:off x="3697400" y="1268475"/>
            <a:ext cx="5446599" cy="30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Doppio microring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58226"/>
            <a:ext cx="4363526" cy="21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4725" y="1573625"/>
            <a:ext cx="5349275" cy="23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Migliore larghezza di riga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381000" y="1332077"/>
            <a:ext cx="36483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05483"/>
                </a:solidFill>
                <a:latin typeface="Arial"/>
                <a:ea typeface="Arial"/>
                <a:cs typeface="Arial"/>
                <a:sym typeface="Arial"/>
              </a:rPr>
              <a:t>Allungare la cavità</a:t>
            </a:r>
            <a:endParaRPr b="1" sz="1600">
              <a:solidFill>
                <a:srgbClr val="00548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Se vogliamo restringere la larghezza di riga possiamo avvalerci del fatto che 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		∆v </a:t>
            </a:r>
            <a:r>
              <a:rPr lang="it" sz="1800">
                <a:solidFill>
                  <a:srgbClr val="334155"/>
                </a:solidFill>
              </a:rPr>
              <a:t>∝ </a:t>
            </a:r>
            <a:r>
              <a:rPr lang="it" sz="1200">
                <a:solidFill>
                  <a:srgbClr val="334155"/>
                </a:solidFill>
              </a:rPr>
              <a:t>1/𝛕</a:t>
            </a:r>
            <a:r>
              <a:rPr lang="it" sz="800">
                <a:solidFill>
                  <a:srgbClr val="334155"/>
                </a:solidFill>
              </a:rPr>
              <a:t>p</a:t>
            </a:r>
            <a:r>
              <a:rPr lang="it" sz="1200">
                <a:solidFill>
                  <a:srgbClr val="334155"/>
                </a:solidFill>
              </a:rPr>
              <a:t>^2 </a:t>
            </a:r>
            <a:r>
              <a:rPr lang="it" sz="1800">
                <a:solidFill>
                  <a:srgbClr val="334155"/>
                </a:solidFill>
              </a:rPr>
              <a:t>∝ </a:t>
            </a:r>
            <a:r>
              <a:rPr lang="it" sz="1200">
                <a:solidFill>
                  <a:srgbClr val="334155"/>
                </a:solidFill>
              </a:rPr>
              <a:t>1/L</a:t>
            </a:r>
            <a:r>
              <a:rPr lang="it" sz="700">
                <a:solidFill>
                  <a:srgbClr val="334155"/>
                </a:solidFill>
              </a:rPr>
              <a:t>totale</a:t>
            </a:r>
            <a:r>
              <a:rPr lang="it" sz="1200">
                <a:solidFill>
                  <a:srgbClr val="334155"/>
                </a:solidFill>
              </a:rPr>
              <a:t>^2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Anche grazie ai materiali impiegati :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&gt; SOA (Inp) fornisce fotoni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&gt; Il feedback circuit è costruito con Si</a:t>
            </a:r>
            <a:r>
              <a:rPr lang="it" sz="800">
                <a:solidFill>
                  <a:srgbClr val="334155"/>
                </a:solidFill>
              </a:rPr>
              <a:t>3</a:t>
            </a:r>
            <a:r>
              <a:rPr lang="it" sz="1200">
                <a:solidFill>
                  <a:srgbClr val="334155"/>
                </a:solidFill>
              </a:rPr>
              <a:t>N</a:t>
            </a:r>
            <a:r>
              <a:rPr lang="it" sz="800">
                <a:solidFill>
                  <a:srgbClr val="334155"/>
                </a:solidFill>
              </a:rPr>
              <a:t>4</a:t>
            </a:r>
            <a:r>
              <a:rPr lang="it" sz="1200">
                <a:solidFill>
                  <a:srgbClr val="334155"/>
                </a:solidFill>
              </a:rPr>
              <a:t> che non 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334155"/>
                </a:solidFill>
              </a:rPr>
              <a:t>   genera luce ma ha perdite ottiche bassissime</a:t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4155"/>
              </a:solidFill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9296" y="1205775"/>
            <a:ext cx="5107479" cy="31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Migliore larghezza di riga</a:t>
            </a:r>
            <a:endParaRPr b="1"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963" y="1110825"/>
            <a:ext cx="6754075" cy="34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2600" y="0"/>
            <a:ext cx="6362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158275" y="1214675"/>
            <a:ext cx="87837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